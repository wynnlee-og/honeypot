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Old Standard TT"/>
      <p:regular r:id="rId23"/>
      <p:bold r:id="rId24"/>
      <p: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ldStandardTT-bold.fntdata"/><Relationship Id="rId23" Type="http://schemas.openxmlformats.org/officeDocument/2006/relationships/font" Target="fonts/OldStandardT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OldStandardTT-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76a2e7679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76a2e7679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5b7e53ed3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5b7e53ed3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76a2e7679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76a2e7679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76a2e7679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76a2e7679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78a240eb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78a240eb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76a2e7679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76a2e7679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598e82e3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598e82e3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78a240eb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78a240eb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598e82e3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598e82e3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5b7e53ed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5b7e53ed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78a240eb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b78a240eb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78a240eb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78a240eb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78a240eb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78a240eb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78a240eb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78a240eb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78a240e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78a240e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78a240eb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78a240eb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16218"/>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lt1"/>
                </a:solidFill>
                <a:latin typeface="Roboto Mono"/>
                <a:ea typeface="Roboto Mono"/>
                <a:cs typeface="Roboto Mono"/>
                <a:sym typeface="Roboto Mono"/>
              </a:rPr>
              <a:t>Honeypot Project Findings</a:t>
            </a:r>
            <a:endParaRPr>
              <a:solidFill>
                <a:schemeClr val="lt1"/>
              </a:solidFill>
              <a:latin typeface="Roboto Mono"/>
              <a:ea typeface="Roboto Mono"/>
              <a:cs typeface="Roboto Mono"/>
              <a:sym typeface="Roboto Mono"/>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chemeClr val="lt1"/>
                </a:solidFill>
                <a:latin typeface="Roboto Mono"/>
                <a:ea typeface="Roboto Mono"/>
                <a:cs typeface="Roboto Mono"/>
                <a:sym typeface="Roboto Mono"/>
              </a:rPr>
              <a:t>By Minh Le</a:t>
            </a:r>
            <a:endParaRPr sz="2200">
              <a:solidFill>
                <a:schemeClr val="lt1"/>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115673"/>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00">
                <a:solidFill>
                  <a:schemeClr val="lt1"/>
                </a:solidFill>
                <a:latin typeface="Roboto Mono"/>
                <a:ea typeface="Roboto Mono"/>
                <a:cs typeface="Roboto Mono"/>
                <a:sym typeface="Roboto Mono"/>
              </a:rPr>
              <a:t>！Notes</a:t>
            </a:r>
            <a:endParaRPr sz="2700">
              <a:solidFill>
                <a:schemeClr val="lt1"/>
              </a:solidFill>
              <a:latin typeface="Roboto Mono"/>
              <a:ea typeface="Roboto Mono"/>
              <a:cs typeface="Roboto Mono"/>
              <a:sym typeface="Roboto Mono"/>
            </a:endParaRPr>
          </a:p>
        </p:txBody>
      </p:sp>
      <p:sp>
        <p:nvSpPr>
          <p:cNvPr id="66" name="Google Shape;66;p14"/>
          <p:cNvSpPr txBox="1"/>
          <p:nvPr>
            <p:ph idx="1" type="body"/>
          </p:nvPr>
        </p:nvSpPr>
        <p:spPr>
          <a:xfrm>
            <a:off x="311700" y="823125"/>
            <a:ext cx="8520600" cy="42252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Goal: Attract and observe common internet attack traffic (scanning, brute-force, probing) in a controlled honeypot environment.</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Time window: Jan 1st – Jan 9th (UTC time).</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GeoIP caveat: GeoIP is context only and may be skewed by VPNs/proxies, carrier NAT, or IP reassignment.</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Network-layer (VPC Flow Logs):</a:t>
            </a:r>
            <a:endParaRPr sz="1300">
              <a:solidFill>
                <a:schemeClr val="lt1"/>
              </a:solidFill>
              <a:latin typeface="Roboto Mono"/>
              <a:ea typeface="Roboto Mono"/>
              <a:cs typeface="Roboto Mono"/>
              <a:sym typeface="Roboto Mono"/>
            </a:endParaRPr>
          </a:p>
          <a:p>
            <a:pPr indent="-311150" lvl="1" marL="9144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Attempts = count of ACCEPTed inbound flows to a destination port (scoped to the honeypot ENI/private IP).</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ActiveMinutes = number of distinct 1-minute bins with ≥1 such flow for a given source IP.</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Host-layer (CloudWatch/sshd):</a:t>
            </a:r>
            <a:endParaRPr sz="1300">
              <a:solidFill>
                <a:schemeClr val="lt1"/>
              </a:solidFill>
              <a:latin typeface="Roboto Mono"/>
              <a:ea typeface="Roboto Mono"/>
              <a:cs typeface="Roboto Mono"/>
              <a:sym typeface="Roboto Mono"/>
            </a:endParaRPr>
          </a:p>
          <a:p>
            <a:pPr indent="-311150" lvl="1" marL="9144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Attempts = count of sshd authentication failure events (e.g., invalid user / failed password) for a given source IP.</a:t>
            </a:r>
            <a:endParaRPr sz="1300">
              <a:solidFill>
                <a:schemeClr val="lt1"/>
              </a:solidFill>
              <a:latin typeface="Roboto Mono"/>
              <a:ea typeface="Roboto Mono"/>
              <a:cs typeface="Roboto Mono"/>
              <a:sym typeface="Roboto Mono"/>
            </a:endParaRPr>
          </a:p>
          <a:p>
            <a:pPr indent="0" lvl="0" marL="0" rtl="0" algn="l">
              <a:lnSpc>
                <a:spcPct val="150000"/>
              </a:lnSpc>
              <a:spcBef>
                <a:spcPts val="1200"/>
              </a:spcBef>
              <a:spcAft>
                <a:spcPts val="1200"/>
              </a:spcAft>
              <a:buNone/>
            </a:pPr>
            <a:r>
              <a:t/>
            </a:r>
            <a:endParaRPr sz="1300">
              <a:solidFill>
                <a:schemeClr val="lt1"/>
              </a:solidFill>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311700" y="11567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Roboto Mono"/>
                <a:ea typeface="Roboto Mono"/>
                <a:cs typeface="Roboto Mono"/>
                <a:sym typeface="Roboto Mono"/>
              </a:rPr>
              <a:t>Honeypot Setup &amp; Telemetry</a:t>
            </a:r>
            <a:endParaRPr>
              <a:solidFill>
                <a:schemeClr val="lt1"/>
              </a:solidFill>
              <a:latin typeface="Roboto Mono"/>
              <a:ea typeface="Roboto Mono"/>
              <a:cs typeface="Roboto Mono"/>
              <a:sym typeface="Roboto Mono"/>
            </a:endParaRPr>
          </a:p>
        </p:txBody>
      </p:sp>
      <p:sp>
        <p:nvSpPr>
          <p:cNvPr id="72" name="Google Shape;72;p15"/>
          <p:cNvSpPr txBox="1"/>
          <p:nvPr>
            <p:ph idx="1" type="body"/>
          </p:nvPr>
        </p:nvSpPr>
        <p:spPr>
          <a:xfrm>
            <a:off x="311700" y="738600"/>
            <a:ext cx="8520600" cy="42957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Architecture: AWS hosts the honeypot and generates telemetry; Microsoft Sentinel (Azure) ingests the logs for correlation, querying, and visualization.</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Exposed services (TCP): Internet-facing ports 22 (SSH), 23 (Telnet), 80 (HTTP), 445 (SMB), 3389 (RDP), 1433 (MSSQL) to simulate a misconfigured host.</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Data sources: VPC Flow Logs (network metadata), CloudWatch logs (service/host events), and GuardDuty findings for additional threat signals.</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Filtering &amp; normalization: Restricted to the </a:t>
            </a:r>
            <a:r>
              <a:rPr lang="en" sz="1300">
                <a:solidFill>
                  <a:schemeClr val="lt1"/>
                </a:solidFill>
                <a:latin typeface="Roboto Mono"/>
                <a:ea typeface="Roboto Mono"/>
                <a:cs typeface="Roboto Mono"/>
                <a:sym typeface="Roboto Mono"/>
              </a:rPr>
              <a:t>honeypot</a:t>
            </a:r>
            <a:r>
              <a:rPr lang="en" sz="1300">
                <a:solidFill>
                  <a:schemeClr val="lt1"/>
                </a:solidFill>
                <a:latin typeface="Roboto Mono"/>
                <a:ea typeface="Roboto Mono"/>
                <a:cs typeface="Roboto Mono"/>
                <a:sym typeface="Roboto Mono"/>
              </a:rPr>
              <a:t> ENI and private IP, filtered to relevant inbound records, normalized source IP using coalesce(</a:t>
            </a:r>
            <a:r>
              <a:rPr lang="en" sz="1300">
                <a:solidFill>
                  <a:schemeClr val="lt1"/>
                </a:solidFill>
                <a:latin typeface="Roboto Mono"/>
                <a:ea typeface="Roboto Mono"/>
                <a:cs typeface="Roboto Mono"/>
                <a:sym typeface="Roboto Mono"/>
              </a:rPr>
              <a:t>PktSrcAddr</a:t>
            </a:r>
            <a:r>
              <a:rPr lang="en" sz="1300">
                <a:solidFill>
                  <a:schemeClr val="lt1"/>
                </a:solidFill>
                <a:latin typeface="Roboto Mono"/>
                <a:ea typeface="Roboto Mono"/>
                <a:cs typeface="Roboto Mono"/>
                <a:sym typeface="Roboto Mono"/>
              </a:rPr>
              <a:t>, SrcAddr), and excluded private RFC1918 sources via ipv4_is_private()</a:t>
            </a:r>
            <a:br>
              <a:rPr lang="en" sz="1300">
                <a:solidFill>
                  <a:schemeClr val="lt1"/>
                </a:solidFill>
                <a:latin typeface="Roboto Mono"/>
                <a:ea typeface="Roboto Mono"/>
                <a:cs typeface="Roboto Mono"/>
                <a:sym typeface="Roboto Mono"/>
              </a:rPr>
            </a:br>
            <a:endParaRPr sz="1300">
              <a:solidFill>
                <a:schemeClr val="lt1"/>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1400" y="0"/>
            <a:ext cx="9144001" cy="4459575"/>
          </a:xfrm>
          <a:prstGeom prst="rect">
            <a:avLst/>
          </a:prstGeom>
          <a:noFill/>
          <a:ln>
            <a:noFill/>
          </a:ln>
        </p:spPr>
      </p:pic>
      <p:sp>
        <p:nvSpPr>
          <p:cNvPr id="78" name="Google Shape;78;p16"/>
          <p:cNvSpPr txBox="1"/>
          <p:nvPr/>
        </p:nvSpPr>
        <p:spPr>
          <a:xfrm>
            <a:off x="1400" y="4459575"/>
            <a:ext cx="9144000" cy="588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Roboto Mono"/>
              <a:buChar char="❖"/>
            </a:pPr>
            <a:r>
              <a:rPr lang="en" sz="1500">
                <a:solidFill>
                  <a:schemeClr val="lt1"/>
                </a:solidFill>
                <a:latin typeface="Roboto Mono"/>
                <a:ea typeface="Roboto Mono"/>
                <a:cs typeface="Roboto Mono"/>
                <a:sym typeface="Roboto Mono"/>
              </a:rPr>
              <a:t>VPC Flow Logs overwhelmingly dominate ingestion over the observed period, with noticeable surges around midnight to early morning UTC time.</a:t>
            </a:r>
            <a:endParaRPr sz="1500">
              <a:solidFill>
                <a:schemeClr val="lt1"/>
              </a:solidFill>
              <a:latin typeface="Roboto Mono"/>
              <a:ea typeface="Roboto Mono"/>
              <a:cs typeface="Roboto Mono"/>
              <a:sym typeface="Roboto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0" y="1003800"/>
            <a:ext cx="9144000" cy="3518625"/>
          </a:xfrm>
          <a:prstGeom prst="rect">
            <a:avLst/>
          </a:prstGeom>
          <a:noFill/>
          <a:ln>
            <a:noFill/>
          </a:ln>
        </p:spPr>
      </p:pic>
      <p:sp>
        <p:nvSpPr>
          <p:cNvPr id="84" name="Google Shape;84;p17"/>
          <p:cNvSpPr txBox="1"/>
          <p:nvPr>
            <p:ph type="title"/>
          </p:nvPr>
        </p:nvSpPr>
        <p:spPr>
          <a:xfrm>
            <a:off x="311700" y="0"/>
            <a:ext cx="8520600" cy="10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820">
                <a:solidFill>
                  <a:schemeClr val="lt1"/>
                </a:solidFill>
                <a:latin typeface="Roboto Mono"/>
                <a:ea typeface="Roboto Mono"/>
                <a:cs typeface="Roboto Mono"/>
                <a:sym typeface="Roboto Mono"/>
              </a:rPr>
              <a:t>TOP 50 GLOBAL NETWORK TRAFFIC </a:t>
            </a:r>
            <a:endParaRPr b="1" sz="1820">
              <a:solidFill>
                <a:schemeClr val="lt1"/>
              </a:solidFill>
              <a:latin typeface="Roboto Mono"/>
              <a:ea typeface="Roboto Mono"/>
              <a:cs typeface="Roboto Mono"/>
              <a:sym typeface="Roboto Mono"/>
            </a:endParaRPr>
          </a:p>
          <a:p>
            <a:pPr indent="0" lvl="0" marL="0" rtl="0" algn="ctr">
              <a:spcBef>
                <a:spcPts val="0"/>
              </a:spcBef>
              <a:spcAft>
                <a:spcPts val="0"/>
              </a:spcAft>
              <a:buSzPts val="990"/>
              <a:buNone/>
            </a:pPr>
            <a:r>
              <a:rPr b="1" lang="en" sz="1820">
                <a:solidFill>
                  <a:schemeClr val="lt1"/>
                </a:solidFill>
                <a:latin typeface="Roboto Mono"/>
                <a:ea typeface="Roboto Mono"/>
                <a:cs typeface="Roboto Mono"/>
                <a:sym typeface="Roboto Mono"/>
              </a:rPr>
              <a:t>between </a:t>
            </a:r>
            <a:endParaRPr b="1" sz="1820">
              <a:solidFill>
                <a:schemeClr val="lt1"/>
              </a:solidFill>
              <a:latin typeface="Roboto Mono"/>
              <a:ea typeface="Roboto Mono"/>
              <a:cs typeface="Roboto Mono"/>
              <a:sym typeface="Roboto Mono"/>
            </a:endParaRPr>
          </a:p>
          <a:p>
            <a:pPr indent="0" lvl="0" marL="0" rtl="0" algn="ctr">
              <a:spcBef>
                <a:spcPts val="0"/>
              </a:spcBef>
              <a:spcAft>
                <a:spcPts val="0"/>
              </a:spcAft>
              <a:buSzPts val="990"/>
              <a:buNone/>
            </a:pPr>
            <a:r>
              <a:rPr b="1" lang="en" sz="1820">
                <a:solidFill>
                  <a:schemeClr val="lt1"/>
                </a:solidFill>
                <a:latin typeface="Roboto Mono"/>
                <a:ea typeface="Roboto Mono"/>
                <a:cs typeface="Roboto Mono"/>
                <a:sym typeface="Roboto Mono"/>
              </a:rPr>
              <a:t>January 1st and January 8th, 2026</a:t>
            </a:r>
            <a:endParaRPr b="1" sz="1820">
              <a:solidFill>
                <a:schemeClr val="lt1"/>
              </a:solidFill>
              <a:latin typeface="Roboto Mono"/>
              <a:ea typeface="Roboto Mono"/>
              <a:cs typeface="Roboto Mono"/>
              <a:sym typeface="Roboto Mono"/>
            </a:endParaRPr>
          </a:p>
        </p:txBody>
      </p:sp>
      <p:sp>
        <p:nvSpPr>
          <p:cNvPr id="85" name="Google Shape;85;p17"/>
          <p:cNvSpPr txBox="1"/>
          <p:nvPr/>
        </p:nvSpPr>
        <p:spPr>
          <a:xfrm>
            <a:off x="1400" y="4508410"/>
            <a:ext cx="9144000" cy="532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Mono"/>
              <a:buChar char="❖"/>
            </a:pPr>
            <a:r>
              <a:rPr lang="en">
                <a:solidFill>
                  <a:schemeClr val="lt1"/>
                </a:solidFill>
                <a:latin typeface="Roboto Mono"/>
                <a:ea typeface="Roboto Mono"/>
                <a:cs typeface="Roboto Mono"/>
                <a:sym typeface="Roboto Mono"/>
              </a:rPr>
              <a:t>Traffic originates from a wide geographic spread, with notable concentrations in Asia, Europe, and North America.</a:t>
            </a:r>
            <a:endParaRPr>
              <a:solidFill>
                <a:schemeClr val="lt1"/>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9" name="Shape 89"/>
        <p:cNvGrpSpPr/>
        <p:nvPr/>
      </p:nvGrpSpPr>
      <p:grpSpPr>
        <a:xfrm>
          <a:off x="0" y="0"/>
          <a:ext cx="0" cy="0"/>
          <a:chOff x="0" y="0"/>
          <a:chExt cx="0" cy="0"/>
        </a:xfrm>
      </p:grpSpPr>
      <p:sp>
        <p:nvSpPr>
          <p:cNvPr id="90" name="Google Shape;90;p18"/>
          <p:cNvSpPr txBox="1"/>
          <p:nvPr/>
        </p:nvSpPr>
        <p:spPr>
          <a:xfrm>
            <a:off x="0" y="3153513"/>
            <a:ext cx="9144000" cy="1113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Roboto Mono"/>
              <a:buChar char="❖"/>
            </a:pPr>
            <a:r>
              <a:rPr lang="en" sz="1500">
                <a:solidFill>
                  <a:schemeClr val="lt1"/>
                </a:solidFill>
                <a:latin typeface="Roboto Mono"/>
                <a:ea typeface="Roboto Mono"/>
                <a:cs typeface="Roboto Mono"/>
                <a:sym typeface="Roboto Mono"/>
              </a:rPr>
              <a:t>Observed inbound traffic was dominated by 445/22/80 (≈94% of events). Telnet (23) showed secondary background scanning (≈5%), while RDP (3389) and MSSQL (1433) were negligible (≈1.7% combined) during the time window.</a:t>
            </a:r>
            <a:endParaRPr sz="1500">
              <a:solidFill>
                <a:schemeClr val="lt1"/>
              </a:solidFill>
              <a:latin typeface="Roboto Mono"/>
              <a:ea typeface="Roboto Mono"/>
              <a:cs typeface="Roboto Mono"/>
              <a:sym typeface="Roboto Mono"/>
            </a:endParaRPr>
          </a:p>
        </p:txBody>
      </p:sp>
      <p:pic>
        <p:nvPicPr>
          <p:cNvPr id="91" name="Google Shape;91;p18"/>
          <p:cNvPicPr preferRelativeResize="0"/>
          <p:nvPr/>
        </p:nvPicPr>
        <p:blipFill rotWithShape="1">
          <a:blip r:embed="rId3">
            <a:alphaModFix/>
          </a:blip>
          <a:srcRect b="0" l="0" r="1854" t="0"/>
          <a:stretch/>
        </p:blipFill>
        <p:spPr>
          <a:xfrm>
            <a:off x="0" y="876088"/>
            <a:ext cx="9144003" cy="2277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sp>
        <p:nvSpPr>
          <p:cNvPr id="96" name="Google Shape;96;p19"/>
          <p:cNvSpPr txBox="1"/>
          <p:nvPr/>
        </p:nvSpPr>
        <p:spPr>
          <a:xfrm>
            <a:off x="0" y="3514625"/>
            <a:ext cx="9144000" cy="15396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Predominant activity recorded from VPC Flow logs was broad internet scanning and opportunistic probing, not targeted intrusion; most sources showed short burst patterns consistent with automated tooling.</a:t>
            </a:r>
            <a:br>
              <a:rPr lang="en" sz="800">
                <a:solidFill>
                  <a:schemeClr val="lt1"/>
                </a:solidFill>
                <a:latin typeface="Roboto Mono"/>
                <a:ea typeface="Roboto Mono"/>
                <a:cs typeface="Roboto Mono"/>
                <a:sym typeface="Roboto Mono"/>
              </a:rPr>
            </a:b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The honeypot saw mostly reconnaissance‑level activity across SSH, SMB, and HTTP—SSH dominated with concentrated authentication failures, SMB showed periodic scanning waves, and HTTP lacked application‑layer detail—yielding no confirmed compromise indicators but leaving conclusions constrained by logging gaps and GeoIP limitations.</a:t>
            </a:r>
            <a:br>
              <a:rPr lang="en" sz="800">
                <a:solidFill>
                  <a:schemeClr val="lt1"/>
                </a:solidFill>
                <a:latin typeface="Roboto Mono"/>
                <a:ea typeface="Roboto Mono"/>
                <a:cs typeface="Roboto Mono"/>
                <a:sym typeface="Roboto Mono"/>
              </a:rPr>
            </a:b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Key outcome: the pipeline and workbook successfully surfaced attacker patterns (top sources, time-series bursts, geographic distribution) and identified concrete improvements for future iterations (restore full app logging, tighten metrics/definitions, add port-wide coverage and correlation).</a:t>
            </a:r>
            <a:endParaRPr sz="800">
              <a:solidFill>
                <a:schemeClr val="lt1"/>
              </a:solidFill>
              <a:latin typeface="Roboto Mono"/>
              <a:ea typeface="Roboto Mono"/>
              <a:cs typeface="Roboto Mono"/>
              <a:sym typeface="Roboto Mono"/>
            </a:endParaRPr>
          </a:p>
        </p:txBody>
      </p:sp>
      <p:pic>
        <p:nvPicPr>
          <p:cNvPr id="97" name="Google Shape;97;p19"/>
          <p:cNvPicPr preferRelativeResize="0"/>
          <p:nvPr/>
        </p:nvPicPr>
        <p:blipFill>
          <a:blip r:embed="rId3">
            <a:alphaModFix/>
          </a:blip>
          <a:stretch>
            <a:fillRect/>
          </a:stretch>
        </p:blipFill>
        <p:spPr>
          <a:xfrm>
            <a:off x="0" y="0"/>
            <a:ext cx="9144002" cy="3542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20"/>
          <p:cNvSpPr txBox="1"/>
          <p:nvPr/>
        </p:nvSpPr>
        <p:spPr>
          <a:xfrm>
            <a:off x="5999825" y="-4200"/>
            <a:ext cx="3144300" cy="514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lt1"/>
                </a:solidFill>
                <a:latin typeface="Roboto Mono"/>
                <a:ea typeface="Roboto Mono"/>
                <a:cs typeface="Roboto Mono"/>
                <a:sym typeface="Roboto Mono"/>
              </a:rPr>
              <a:t>Network layer SMB (VPC)</a:t>
            </a:r>
            <a:endParaRPr b="1"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~25.5K accepted TCP/445 flow records to the honeypot, occurring in bursty spikes rather than steady background traffic (consistent with automated scanning/probing waves).</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Top</a:t>
            </a:r>
            <a:r>
              <a:rPr lang="en" sz="800">
                <a:solidFill>
                  <a:schemeClr val="lt1"/>
                </a:solidFill>
                <a:latin typeface="Roboto Mono"/>
                <a:ea typeface="Roboto Mono"/>
                <a:cs typeface="Roboto Mono"/>
                <a:sym typeface="Roboto Mono"/>
              </a:rPr>
              <a:t> sources and rate vs persistence </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Highest volume (most persistent): 27.72.107.21 (Hanoi, Vietnam) generated 3,312 attempts across 202 active minutes (~16.4 attempts/min) over ~3.4 hours (sustained activity at moderate rate)</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H</a:t>
            </a:r>
            <a:r>
              <a:rPr lang="en" sz="800">
                <a:solidFill>
                  <a:schemeClr val="lt1"/>
                </a:solidFill>
                <a:latin typeface="Roboto Mono"/>
                <a:ea typeface="Roboto Mono"/>
                <a:cs typeface="Roboto Mono"/>
                <a:sym typeface="Roboto Mono"/>
              </a:rPr>
              <a:t>ighest</a:t>
            </a:r>
            <a:r>
              <a:rPr lang="en" sz="800">
                <a:solidFill>
                  <a:schemeClr val="lt1"/>
                </a:solidFill>
                <a:latin typeface="Roboto Mono"/>
                <a:ea typeface="Roboto Mono"/>
                <a:cs typeface="Roboto Mono"/>
                <a:sym typeface="Roboto Mono"/>
              </a:rPr>
              <a:t> rate burst: 92.208.27.78 (Wuppertal, Germany) generated 3,152 attempts across 36 active minutes (~87.6 attempts/min), consistent with a short high-rate probing burst.</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Notable high-rate source (previously highlighted): 197.38.137.125 (Sohag, Egypt) generated 1,665 attempts across 26 active minutes (~64.0 attempts/min), also indicative of automated probing</a:t>
            </a:r>
            <a:endParaRPr sz="800">
              <a:solidFill>
                <a:schemeClr val="lt1"/>
              </a:solidFill>
              <a:latin typeface="Roboto Mono"/>
              <a:ea typeface="Roboto Mono"/>
              <a:cs typeface="Roboto Mono"/>
              <a:sym typeface="Roboto Mono"/>
            </a:endParaRPr>
          </a:p>
        </p:txBody>
      </p:sp>
      <p:pic>
        <p:nvPicPr>
          <p:cNvPr id="103" name="Google Shape;103;p20"/>
          <p:cNvPicPr preferRelativeResize="0"/>
          <p:nvPr/>
        </p:nvPicPr>
        <p:blipFill>
          <a:blip r:embed="rId3">
            <a:alphaModFix/>
          </a:blip>
          <a:stretch>
            <a:fillRect/>
          </a:stretch>
        </p:blipFill>
        <p:spPr>
          <a:xfrm>
            <a:off x="0" y="2112050"/>
            <a:ext cx="5999826" cy="2922126"/>
          </a:xfrm>
          <a:prstGeom prst="rect">
            <a:avLst/>
          </a:prstGeom>
          <a:noFill/>
          <a:ln>
            <a:noFill/>
          </a:ln>
        </p:spPr>
      </p:pic>
      <p:pic>
        <p:nvPicPr>
          <p:cNvPr id="104" name="Google Shape;104;p20"/>
          <p:cNvPicPr preferRelativeResize="0"/>
          <p:nvPr/>
        </p:nvPicPr>
        <p:blipFill>
          <a:blip r:embed="rId4">
            <a:alphaModFix/>
          </a:blip>
          <a:stretch>
            <a:fillRect/>
          </a:stretch>
        </p:blipFill>
        <p:spPr>
          <a:xfrm>
            <a:off x="0" y="-4200"/>
            <a:ext cx="5999825" cy="2116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sp>
        <p:nvSpPr>
          <p:cNvPr id="109" name="Google Shape;109;p21"/>
          <p:cNvSpPr txBox="1"/>
          <p:nvPr/>
        </p:nvSpPr>
        <p:spPr>
          <a:xfrm>
            <a:off x="5999825" y="-4200"/>
            <a:ext cx="3144300" cy="514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chemeClr val="lt1"/>
                </a:solidFill>
                <a:latin typeface="Roboto Mono"/>
                <a:ea typeface="Roboto Mono"/>
                <a:cs typeface="Roboto Mono"/>
                <a:sym typeface="Roboto Mono"/>
              </a:rPr>
              <a:t>Network layer SSH </a:t>
            </a:r>
            <a:r>
              <a:rPr b="1" lang="en" sz="800">
                <a:solidFill>
                  <a:schemeClr val="lt1"/>
                </a:solidFill>
                <a:latin typeface="Roboto Mono"/>
                <a:ea typeface="Roboto Mono"/>
                <a:cs typeface="Roboto Mono"/>
                <a:sym typeface="Roboto Mono"/>
              </a:rPr>
              <a:t>(VPC)</a:t>
            </a:r>
            <a:endParaRPr b="1"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Top contributors are </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115.190.43.239 (China, 464)</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115.124.100.118 (India, 462)</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They are the two largest single sources (combined ~26% of total)</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High-rate connection bursts to TCP/22</a:t>
            </a:r>
            <a:r>
              <a:rPr lang="en" sz="800">
                <a:solidFill>
                  <a:schemeClr val="lt1"/>
                </a:solidFill>
                <a:latin typeface="Roboto Mono"/>
                <a:ea typeface="Roboto Mono"/>
                <a:cs typeface="Roboto Mono"/>
                <a:sym typeface="Roboto Mono"/>
              </a:rPr>
              <a:t>:</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US: 129.212.189.87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 sz="800">
                <a:solidFill>
                  <a:schemeClr val="lt1"/>
                </a:solidFill>
                <a:latin typeface="Roboto Mono"/>
                <a:ea typeface="Roboto Mono"/>
                <a:cs typeface="Roboto Mono"/>
                <a:sym typeface="Roboto Mono"/>
              </a:rPr>
              <a:t>(323 / 17 ≈ 19 attempt/min)</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India 115.124.100.118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 sz="800">
                <a:solidFill>
                  <a:schemeClr val="lt1"/>
                </a:solidFill>
                <a:latin typeface="Roboto Mono"/>
                <a:ea typeface="Roboto Mono"/>
                <a:cs typeface="Roboto Mono"/>
                <a:sym typeface="Roboto Mono"/>
              </a:rPr>
              <a:t>(462 / 33 ≈ 14 attempt/min)</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US: 158.51.96.38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 sz="800">
                <a:solidFill>
                  <a:schemeClr val="lt1"/>
                </a:solidFill>
                <a:latin typeface="Roboto Mono"/>
                <a:ea typeface="Roboto Mono"/>
                <a:cs typeface="Roboto Mono"/>
                <a:sym typeface="Roboto Mono"/>
              </a:rPr>
              <a:t>(108 / 8 ≈ 13.5 attempt/min)</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China: 115.190.43.239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 sz="800">
                <a:solidFill>
                  <a:schemeClr val="lt1"/>
                </a:solidFill>
                <a:latin typeface="Roboto Mono"/>
                <a:ea typeface="Roboto Mono"/>
                <a:cs typeface="Roboto Mono"/>
                <a:sym typeface="Roboto Mono"/>
              </a:rPr>
              <a:t>(464 / 38 ≈ 12.2 attempt/min)</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Low-and-slow persistence (continuous probing) observed:</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Netherlands: 206.189.97.49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rPr lang="en" sz="800">
                <a:solidFill>
                  <a:schemeClr val="lt1"/>
                </a:solidFill>
                <a:latin typeface="Roboto Mono"/>
                <a:ea typeface="Roboto Mono"/>
                <a:cs typeface="Roboto Mono"/>
                <a:sym typeface="Roboto Mono"/>
              </a:rPr>
              <a:t>( 329 / 329 min ≈ 1 attempt/min)</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Clr>
                <a:schemeClr val="dk1"/>
              </a:buClr>
              <a:buSzPts val="1100"/>
              <a:buFont typeface="Arial"/>
              <a:buNone/>
            </a:pPr>
            <a:r>
              <a:t/>
            </a:r>
            <a:endParaRPr sz="800">
              <a:solidFill>
                <a:schemeClr val="lt1"/>
              </a:solidFill>
              <a:latin typeface="Roboto Mono"/>
              <a:ea typeface="Roboto Mono"/>
              <a:cs typeface="Roboto Mono"/>
              <a:sym typeface="Roboto Mono"/>
            </a:endParaRPr>
          </a:p>
          <a:p>
            <a:pPr indent="-279400" lvl="2" marL="13716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Spanning many days </a:t>
            </a:r>
            <a:endParaRPr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p:txBody>
      </p:sp>
      <p:pic>
        <p:nvPicPr>
          <p:cNvPr id="110" name="Google Shape;110;p21"/>
          <p:cNvPicPr preferRelativeResize="0"/>
          <p:nvPr/>
        </p:nvPicPr>
        <p:blipFill>
          <a:blip r:embed="rId3">
            <a:alphaModFix/>
          </a:blip>
          <a:stretch>
            <a:fillRect/>
          </a:stretch>
        </p:blipFill>
        <p:spPr>
          <a:xfrm>
            <a:off x="0" y="2138821"/>
            <a:ext cx="5999827" cy="2902380"/>
          </a:xfrm>
          <a:prstGeom prst="rect">
            <a:avLst/>
          </a:prstGeom>
          <a:noFill/>
          <a:ln>
            <a:noFill/>
          </a:ln>
        </p:spPr>
      </p:pic>
      <p:pic>
        <p:nvPicPr>
          <p:cNvPr id="111" name="Google Shape;111;p21"/>
          <p:cNvPicPr preferRelativeResize="0"/>
          <p:nvPr/>
        </p:nvPicPr>
        <p:blipFill>
          <a:blip r:embed="rId4">
            <a:alphaModFix/>
          </a:blip>
          <a:stretch>
            <a:fillRect/>
          </a:stretch>
        </p:blipFill>
        <p:spPr>
          <a:xfrm>
            <a:off x="0" y="-4200"/>
            <a:ext cx="5999827" cy="2143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22"/>
          <p:cNvSpPr txBox="1"/>
          <p:nvPr/>
        </p:nvSpPr>
        <p:spPr>
          <a:xfrm>
            <a:off x="125" y="3593175"/>
            <a:ext cx="9144000" cy="137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Host Layer SSH (CloudWatch / sshd auth logs)</a:t>
            </a:r>
            <a:endParaRPr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0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Auth failures dominated; only a small number of successful logins were observed and were associated with expected administrative access.</a:t>
            </a:r>
            <a:endParaRPr sz="800">
              <a:solidFill>
                <a:schemeClr val="lt1"/>
              </a:solidFill>
              <a:latin typeface="Roboto Mono"/>
              <a:ea typeface="Roboto Mono"/>
              <a:cs typeface="Roboto Mono"/>
              <a:sym typeface="Roboto Mono"/>
            </a:endParaRPr>
          </a:p>
          <a:p>
            <a:pPr indent="0" lvl="0" marL="457200" rtl="0" algn="l">
              <a:lnSpc>
                <a:spcPct val="10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0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Attackers targeted default Linux accounts (root, admin, user, ubuntu, debian), consistent with broad credential‑stuffing playbooks rather than targeted intrusion.</a:t>
            </a:r>
            <a:endParaRPr sz="800">
              <a:solidFill>
                <a:schemeClr val="lt1"/>
              </a:solidFill>
              <a:latin typeface="Roboto Mono"/>
              <a:ea typeface="Roboto Mono"/>
              <a:cs typeface="Roboto Mono"/>
              <a:sym typeface="Roboto Mono"/>
            </a:endParaRPr>
          </a:p>
          <a:p>
            <a:pPr indent="0" lvl="0" marL="457200" rtl="0" algn="l">
              <a:lnSpc>
                <a:spcPct val="10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0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Authentication failures dominated; a small number of successful logins were observed and were consistent with expected administrative access. No confirmed compromise indicators were identified in the available telemetry.</a:t>
            </a:r>
            <a:endParaRPr sz="800">
              <a:solidFill>
                <a:schemeClr val="lt1"/>
              </a:solidFill>
              <a:latin typeface="Roboto Mono"/>
              <a:ea typeface="Roboto Mono"/>
              <a:cs typeface="Roboto Mono"/>
              <a:sym typeface="Roboto Mono"/>
            </a:endParaRPr>
          </a:p>
        </p:txBody>
      </p:sp>
      <p:pic>
        <p:nvPicPr>
          <p:cNvPr id="117" name="Google Shape;117;p22"/>
          <p:cNvPicPr preferRelativeResize="0"/>
          <p:nvPr/>
        </p:nvPicPr>
        <p:blipFill>
          <a:blip r:embed="rId3">
            <a:alphaModFix/>
          </a:blip>
          <a:stretch>
            <a:fillRect/>
          </a:stretch>
        </p:blipFill>
        <p:spPr>
          <a:xfrm>
            <a:off x="0" y="0"/>
            <a:ext cx="9144003" cy="35669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1" name="Shape 121"/>
        <p:cNvGrpSpPr/>
        <p:nvPr/>
      </p:nvGrpSpPr>
      <p:grpSpPr>
        <a:xfrm>
          <a:off x="0" y="0"/>
          <a:ext cx="0" cy="0"/>
          <a:chOff x="0" y="0"/>
          <a:chExt cx="0" cy="0"/>
        </a:xfrm>
      </p:grpSpPr>
      <p:sp>
        <p:nvSpPr>
          <p:cNvPr id="122" name="Google Shape;122;p23"/>
          <p:cNvSpPr txBox="1"/>
          <p:nvPr/>
        </p:nvSpPr>
        <p:spPr>
          <a:xfrm>
            <a:off x="5999825" y="-4200"/>
            <a:ext cx="3144300" cy="514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lt1"/>
                </a:solidFill>
                <a:latin typeface="Roboto Mono"/>
                <a:ea typeface="Roboto Mono"/>
                <a:cs typeface="Roboto Mono"/>
                <a:sym typeface="Roboto Mono"/>
              </a:rPr>
              <a:t>Host Layer SSH (CloudWatch / sshd auth logs)</a:t>
            </a:r>
            <a:endParaRPr b="1"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CloudWatch</a:t>
            </a:r>
            <a:r>
              <a:rPr lang="en" sz="800">
                <a:solidFill>
                  <a:schemeClr val="lt1"/>
                </a:solidFill>
                <a:latin typeface="Roboto Mono"/>
                <a:ea typeface="Roboto Mono"/>
                <a:cs typeface="Roboto Mono"/>
                <a:sym typeface="Roboto Mono"/>
              </a:rPr>
              <a:t> SSH logs show concentrated brute-force activity from three </a:t>
            </a:r>
            <a:r>
              <a:rPr lang="en" sz="800">
                <a:solidFill>
                  <a:schemeClr val="lt1"/>
                </a:solidFill>
                <a:latin typeface="Roboto Mono"/>
                <a:ea typeface="Roboto Mono"/>
                <a:cs typeface="Roboto Mono"/>
                <a:sym typeface="Roboto Mono"/>
              </a:rPr>
              <a:t>interesting</a:t>
            </a:r>
            <a:r>
              <a:rPr lang="en" sz="800">
                <a:solidFill>
                  <a:schemeClr val="lt1"/>
                </a:solidFill>
                <a:latin typeface="Roboto Mono"/>
                <a:ea typeface="Roboto Mono"/>
                <a:cs typeface="Roboto Mono"/>
                <a:sym typeface="Roboto Mono"/>
              </a:rPr>
              <a:t> main source: </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59.172.153.82 (Wuhan) and 115.190.43.239 with 523 attempts each. Both are the highest-volume IPs and targeted the same seven common usernames (root, admin, ubuntu, debian, pi, ftp, user) </a:t>
            </a:r>
            <a:endParaRPr sz="800">
              <a:solidFill>
                <a:schemeClr val="lt1"/>
              </a:solidFill>
              <a:latin typeface="Roboto Mono"/>
              <a:ea typeface="Roboto Mono"/>
              <a:cs typeface="Roboto Mono"/>
              <a:sym typeface="Roboto Mono"/>
            </a:endParaRPr>
          </a:p>
          <a:p>
            <a:pPr indent="-279400" lvl="2" marL="13716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Exhibit bursty time-series patterns, which is consistent with automated dictionary/brute-force tooling and may indicate a shared campaign or tool configuration (though IPs alone cannot confirm a single actor).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45.15.225.49 (Moldova): 182 total attempts, 10 unique usernames tried: root, admin, oracle, usuario, test, user, ftpuser, test1, test2, ubuntu</a:t>
            </a:r>
            <a:endParaRPr sz="800">
              <a:solidFill>
                <a:schemeClr val="lt1"/>
              </a:solidFill>
              <a:latin typeface="Roboto Mono"/>
              <a:ea typeface="Roboto Mono"/>
              <a:cs typeface="Roboto Mono"/>
              <a:sym typeface="Roboto Mono"/>
            </a:endParaRPr>
          </a:p>
          <a:p>
            <a:pPr indent="-279400" lvl="2" marL="13716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Shows a different username strategy (more varied and including localized/testing-style names), suggesting a different tooling profile or operator configuration.</a:t>
            </a:r>
            <a:endParaRPr sz="800">
              <a:solidFill>
                <a:schemeClr val="lt1"/>
              </a:solidFill>
              <a:latin typeface="Roboto Mono"/>
              <a:ea typeface="Roboto Mono"/>
              <a:cs typeface="Roboto Mono"/>
              <a:sym typeface="Roboto Mono"/>
            </a:endParaRPr>
          </a:p>
        </p:txBody>
      </p:sp>
      <p:pic>
        <p:nvPicPr>
          <p:cNvPr id="123" name="Google Shape;123;p23"/>
          <p:cNvPicPr preferRelativeResize="0"/>
          <p:nvPr/>
        </p:nvPicPr>
        <p:blipFill>
          <a:blip r:embed="rId3">
            <a:alphaModFix/>
          </a:blip>
          <a:stretch>
            <a:fillRect/>
          </a:stretch>
        </p:blipFill>
        <p:spPr>
          <a:xfrm>
            <a:off x="0" y="991375"/>
            <a:ext cx="5999825" cy="2852809"/>
          </a:xfrm>
          <a:prstGeom prst="rect">
            <a:avLst/>
          </a:prstGeom>
          <a:noFill/>
          <a:ln>
            <a:noFill/>
          </a:ln>
        </p:spPr>
      </p:pic>
      <p:pic>
        <p:nvPicPr>
          <p:cNvPr id="124" name="Google Shape;124;p23"/>
          <p:cNvPicPr preferRelativeResize="0"/>
          <p:nvPr/>
        </p:nvPicPr>
        <p:blipFill>
          <a:blip r:embed="rId4">
            <a:alphaModFix/>
          </a:blip>
          <a:stretch>
            <a:fillRect/>
          </a:stretch>
        </p:blipFill>
        <p:spPr>
          <a:xfrm>
            <a:off x="0" y="3643875"/>
            <a:ext cx="5999825" cy="1397325"/>
          </a:xfrm>
          <a:prstGeom prst="rect">
            <a:avLst/>
          </a:prstGeom>
          <a:noFill/>
          <a:ln>
            <a:noFill/>
          </a:ln>
        </p:spPr>
      </p:pic>
      <p:pic>
        <p:nvPicPr>
          <p:cNvPr id="125" name="Google Shape;125;p23"/>
          <p:cNvPicPr preferRelativeResize="0"/>
          <p:nvPr/>
        </p:nvPicPr>
        <p:blipFill rotWithShape="1">
          <a:blip r:embed="rId5">
            <a:alphaModFix/>
          </a:blip>
          <a:srcRect b="0" l="0" r="0" t="0"/>
          <a:stretch/>
        </p:blipFill>
        <p:spPr>
          <a:xfrm>
            <a:off x="0" y="-4200"/>
            <a:ext cx="5999825" cy="995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9" name="Shape 129"/>
        <p:cNvGrpSpPr/>
        <p:nvPr/>
      </p:nvGrpSpPr>
      <p:grpSpPr>
        <a:xfrm>
          <a:off x="0" y="0"/>
          <a:ext cx="0" cy="0"/>
          <a:chOff x="0" y="0"/>
          <a:chExt cx="0" cy="0"/>
        </a:xfrm>
      </p:grpSpPr>
      <p:sp>
        <p:nvSpPr>
          <p:cNvPr id="130" name="Google Shape;130;p24"/>
          <p:cNvSpPr txBox="1"/>
          <p:nvPr/>
        </p:nvSpPr>
        <p:spPr>
          <a:xfrm>
            <a:off x="0" y="0"/>
            <a:ext cx="9144000" cy="24306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To increase engagement to the honeypot and generate richer HTTP telemetry, a realistic fake employee login page was deployed on port 80.</a:t>
            </a:r>
            <a:endParaRPr sz="10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1000">
              <a:solidFill>
                <a:schemeClr val="lt1"/>
              </a:solidFill>
              <a:latin typeface="Roboto Mono"/>
              <a:ea typeface="Roboto Mono"/>
              <a:cs typeface="Roboto Mono"/>
              <a:sym typeface="Roboto Mono"/>
            </a:endParaRPr>
          </a:p>
          <a:p>
            <a:pPr indent="-292100" lvl="1" marL="9144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Components added:</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index.html – Honeypot landing page with link to login portal</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login.html – Fully styled employee login form (username + password)</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/login POST handler – Static endpoint simulating failed authentication</a:t>
            </a:r>
            <a:endParaRPr sz="1000">
              <a:solidFill>
                <a:schemeClr val="lt1"/>
              </a:solidFill>
              <a:latin typeface="Roboto Mono"/>
              <a:ea typeface="Roboto Mono"/>
              <a:cs typeface="Roboto Mono"/>
              <a:sym typeface="Roboto Mono"/>
            </a:endParaRPr>
          </a:p>
          <a:p>
            <a:pPr indent="0" lvl="0" marL="1371600" rtl="0" algn="l">
              <a:lnSpc>
                <a:spcPct val="115000"/>
              </a:lnSpc>
              <a:spcBef>
                <a:spcPts val="0"/>
              </a:spcBef>
              <a:spcAft>
                <a:spcPts val="0"/>
              </a:spcAft>
              <a:buNone/>
            </a:pPr>
            <a:r>
              <a:t/>
            </a:r>
            <a:endParaRPr sz="1000">
              <a:solidFill>
                <a:schemeClr val="lt1"/>
              </a:solidFill>
              <a:latin typeface="Roboto Mono"/>
              <a:ea typeface="Roboto Mono"/>
              <a:cs typeface="Roboto Mono"/>
              <a:sym typeface="Roboto Mono"/>
            </a:endParaRPr>
          </a:p>
          <a:p>
            <a:pPr indent="-292100" lvl="1" marL="9144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Purpose:</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Attract credential‑stuffing bots</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Trigger POST requests for Sentinel analysis</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Capture attacker behavior beyond simple port scans</a:t>
            </a:r>
            <a:endParaRPr sz="1000">
              <a:solidFill>
                <a:schemeClr val="lt1"/>
              </a:solidFill>
              <a:latin typeface="Roboto Mono"/>
              <a:ea typeface="Roboto Mono"/>
              <a:cs typeface="Roboto Mono"/>
              <a:sym typeface="Roboto Mono"/>
            </a:endParaRPr>
          </a:p>
          <a:p>
            <a:pPr indent="-292100" lvl="2" marL="13716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Enrich CloudWatch → S3 → Sentinel ingestion pipeline</a:t>
            </a:r>
            <a:endParaRPr sz="1000">
              <a:solidFill>
                <a:schemeClr val="lt1"/>
              </a:solidFill>
              <a:latin typeface="Roboto Mono"/>
              <a:ea typeface="Roboto Mono"/>
              <a:cs typeface="Roboto Mono"/>
              <a:sym typeface="Roboto Mono"/>
            </a:endParaRPr>
          </a:p>
        </p:txBody>
      </p:sp>
      <p:pic>
        <p:nvPicPr>
          <p:cNvPr id="131" name="Google Shape;131;p24"/>
          <p:cNvPicPr preferRelativeResize="0"/>
          <p:nvPr/>
        </p:nvPicPr>
        <p:blipFill>
          <a:blip r:embed="rId3">
            <a:alphaModFix/>
          </a:blip>
          <a:stretch>
            <a:fillRect/>
          </a:stretch>
        </p:blipFill>
        <p:spPr>
          <a:xfrm>
            <a:off x="5766075" y="1605838"/>
            <a:ext cx="3010299" cy="3059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5" name="Shape 135"/>
        <p:cNvGrpSpPr/>
        <p:nvPr/>
      </p:nvGrpSpPr>
      <p:grpSpPr>
        <a:xfrm>
          <a:off x="0" y="0"/>
          <a:ext cx="0" cy="0"/>
          <a:chOff x="0" y="0"/>
          <a:chExt cx="0" cy="0"/>
        </a:xfrm>
      </p:grpSpPr>
      <p:sp>
        <p:nvSpPr>
          <p:cNvPr id="136" name="Google Shape;136;p25"/>
          <p:cNvSpPr txBox="1"/>
          <p:nvPr/>
        </p:nvSpPr>
        <p:spPr>
          <a:xfrm>
            <a:off x="5999825" y="-4200"/>
            <a:ext cx="3144300" cy="514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lt1"/>
                </a:solidFill>
                <a:latin typeface="Roboto Mono"/>
                <a:ea typeface="Roboto Mono"/>
                <a:cs typeface="Roboto Mono"/>
                <a:sym typeface="Roboto Mono"/>
              </a:rPr>
              <a:t>Network layer HTTP (VPC)</a:t>
            </a:r>
            <a:endParaRPr b="1"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~2</a:t>
            </a:r>
            <a:r>
              <a:rPr lang="en" sz="800">
                <a:solidFill>
                  <a:schemeClr val="lt1"/>
                </a:solidFill>
                <a:latin typeface="Roboto Mono"/>
                <a:ea typeface="Roboto Mono"/>
                <a:cs typeface="Roboto Mono"/>
                <a:sym typeface="Roboto Mono"/>
              </a:rPr>
              <a:t>.13K accepted TCP/80 flow records, showing a mix of short high‑rate bursts and long‑duration low‑rate probing (typical of automated HTTP reconnaissance)</a:t>
            </a:r>
            <a:r>
              <a:rPr lang="en" sz="800">
                <a:solidFill>
                  <a:schemeClr val="lt1"/>
                </a:solidFill>
                <a:latin typeface="Roboto Mono"/>
                <a:ea typeface="Roboto Mono"/>
                <a:cs typeface="Roboto Mono"/>
                <a:sym typeface="Roboto Mono"/>
              </a:rPr>
              <a:t>.</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Top sources and rate vs persistence </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Highest rate burst: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74.207.237.5 (Atlanta, United States) generated 293 attempts across 4 active minutes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(~73.25 attempts/min), indicating a fast, short‑duration scanning burst.</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Second high‑rate burst: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104.219.238.86 (United States) generated 223 attempts across 2 active minutes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(~111.5 attempts/min), consistent with extremely rapid probing.</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1" marL="9144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Most persistent: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204.76.203.219 (Eygelshoven, Netherlands) generated 262 attempts across 196 active minutes  </a:t>
            </a:r>
            <a:endParaRPr sz="800">
              <a:solidFill>
                <a:schemeClr val="lt1"/>
              </a:solidFill>
              <a:latin typeface="Roboto Mono"/>
              <a:ea typeface="Roboto Mono"/>
              <a:cs typeface="Roboto Mono"/>
              <a:sym typeface="Roboto Mono"/>
            </a:endParaRPr>
          </a:p>
          <a:p>
            <a:pPr indent="0" lvl="0" marL="914400" rtl="0" algn="l">
              <a:lnSpc>
                <a:spcPct val="115000"/>
              </a:lnSpc>
              <a:spcBef>
                <a:spcPts val="0"/>
              </a:spcBef>
              <a:spcAft>
                <a:spcPts val="0"/>
              </a:spcAft>
              <a:buNone/>
            </a:pPr>
            <a:r>
              <a:rPr lang="en" sz="800">
                <a:solidFill>
                  <a:schemeClr val="lt1"/>
                </a:solidFill>
                <a:latin typeface="Roboto Mono"/>
                <a:ea typeface="Roboto Mono"/>
                <a:cs typeface="Roboto Mono"/>
                <a:sym typeface="Roboto Mono"/>
              </a:rPr>
              <a:t>(~1.34 attempts/min), representing slow, long‑duration reconnaissance.</a:t>
            </a:r>
            <a:endParaRPr sz="800">
              <a:solidFill>
                <a:schemeClr val="lt1"/>
              </a:solidFill>
              <a:latin typeface="Roboto Mono"/>
              <a:ea typeface="Roboto Mono"/>
              <a:cs typeface="Roboto Mono"/>
              <a:sym typeface="Roboto Mono"/>
            </a:endParaRPr>
          </a:p>
        </p:txBody>
      </p:sp>
      <p:pic>
        <p:nvPicPr>
          <p:cNvPr id="137" name="Google Shape;137;p25"/>
          <p:cNvPicPr preferRelativeResize="0"/>
          <p:nvPr/>
        </p:nvPicPr>
        <p:blipFill>
          <a:blip r:embed="rId3">
            <a:alphaModFix/>
          </a:blip>
          <a:stretch>
            <a:fillRect/>
          </a:stretch>
        </p:blipFill>
        <p:spPr>
          <a:xfrm>
            <a:off x="0" y="-4200"/>
            <a:ext cx="5999824" cy="2116250"/>
          </a:xfrm>
          <a:prstGeom prst="rect">
            <a:avLst/>
          </a:prstGeom>
          <a:noFill/>
          <a:ln>
            <a:noFill/>
          </a:ln>
        </p:spPr>
      </p:pic>
      <p:pic>
        <p:nvPicPr>
          <p:cNvPr id="138" name="Google Shape;138;p25"/>
          <p:cNvPicPr preferRelativeResize="0"/>
          <p:nvPr/>
        </p:nvPicPr>
        <p:blipFill>
          <a:blip r:embed="rId4">
            <a:alphaModFix/>
          </a:blip>
          <a:stretch>
            <a:fillRect/>
          </a:stretch>
        </p:blipFill>
        <p:spPr>
          <a:xfrm>
            <a:off x="0" y="2112050"/>
            <a:ext cx="5999826" cy="2943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2" name="Shape 142"/>
        <p:cNvGrpSpPr/>
        <p:nvPr/>
      </p:nvGrpSpPr>
      <p:grpSpPr>
        <a:xfrm>
          <a:off x="0" y="0"/>
          <a:ext cx="0" cy="0"/>
          <a:chOff x="0" y="0"/>
          <a:chExt cx="0" cy="0"/>
        </a:xfrm>
      </p:grpSpPr>
      <p:pic>
        <p:nvPicPr>
          <p:cNvPr id="143" name="Google Shape;143;p26"/>
          <p:cNvPicPr preferRelativeResize="0"/>
          <p:nvPr/>
        </p:nvPicPr>
        <p:blipFill>
          <a:blip r:embed="rId3">
            <a:alphaModFix/>
          </a:blip>
          <a:stretch>
            <a:fillRect/>
          </a:stretch>
        </p:blipFill>
        <p:spPr>
          <a:xfrm>
            <a:off x="0" y="0"/>
            <a:ext cx="9144001" cy="2602025"/>
          </a:xfrm>
          <a:prstGeom prst="rect">
            <a:avLst/>
          </a:prstGeom>
          <a:noFill/>
          <a:ln>
            <a:noFill/>
          </a:ln>
        </p:spPr>
      </p:pic>
      <p:pic>
        <p:nvPicPr>
          <p:cNvPr id="144" name="Google Shape;144;p26"/>
          <p:cNvPicPr preferRelativeResize="0"/>
          <p:nvPr/>
        </p:nvPicPr>
        <p:blipFill>
          <a:blip r:embed="rId4">
            <a:alphaModFix/>
          </a:blip>
          <a:stretch>
            <a:fillRect/>
          </a:stretch>
        </p:blipFill>
        <p:spPr>
          <a:xfrm>
            <a:off x="0" y="2602025"/>
            <a:ext cx="4629274" cy="2411125"/>
          </a:xfrm>
          <a:prstGeom prst="rect">
            <a:avLst/>
          </a:prstGeom>
          <a:noFill/>
          <a:ln>
            <a:noFill/>
          </a:ln>
        </p:spPr>
      </p:pic>
      <p:sp>
        <p:nvSpPr>
          <p:cNvPr id="145" name="Google Shape;145;p26"/>
          <p:cNvSpPr txBox="1"/>
          <p:nvPr/>
        </p:nvSpPr>
        <p:spPr>
          <a:xfrm>
            <a:off x="4629275" y="2602025"/>
            <a:ext cx="4514700" cy="241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chemeClr val="lt1"/>
                </a:solidFill>
                <a:latin typeface="Roboto Mono"/>
                <a:ea typeface="Roboto Mono"/>
                <a:cs typeface="Roboto Mono"/>
                <a:sym typeface="Roboto Mono"/>
              </a:rPr>
              <a:t>Network layer TELNET (VPC)</a:t>
            </a:r>
            <a:endParaRPr b="1"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Telnet (23) activity appeared as low-volume probing. Top Telnet sources did not overlap with SSH/HTTP/SMB sources in the same window (based on flow telemetry)</a:t>
            </a:r>
            <a:endParaRPr sz="800">
              <a:solidFill>
                <a:schemeClr val="lt1"/>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a:p>
            <a:pPr indent="-279400" lvl="0" marL="457200" rtl="0" algn="l">
              <a:lnSpc>
                <a:spcPct val="115000"/>
              </a:lnSpc>
              <a:spcBef>
                <a:spcPts val="0"/>
              </a:spcBef>
              <a:spcAft>
                <a:spcPts val="0"/>
              </a:spcAft>
              <a:buClr>
                <a:schemeClr val="lt1"/>
              </a:buClr>
              <a:buSzPts val="800"/>
              <a:buFont typeface="Roboto Mono"/>
              <a:buChar char="❖"/>
            </a:pPr>
            <a:r>
              <a:rPr lang="en" sz="800">
                <a:solidFill>
                  <a:schemeClr val="lt1"/>
                </a:solidFill>
                <a:latin typeface="Roboto Mono"/>
                <a:ea typeface="Roboto Mono"/>
                <a:cs typeface="Roboto Mono"/>
                <a:sym typeface="Roboto Mono"/>
              </a:rPr>
              <a:t>N</a:t>
            </a:r>
            <a:r>
              <a:rPr lang="en" sz="800">
                <a:solidFill>
                  <a:schemeClr val="lt1"/>
                </a:solidFill>
                <a:latin typeface="Roboto Mono"/>
                <a:ea typeface="Roboto Mono"/>
                <a:cs typeface="Roboto Mono"/>
                <a:sym typeface="Roboto Mono"/>
              </a:rPr>
              <a:t>o overlap found with top sources targeted SSH/HTTP/SMB, consistent with background automated internet scanning (flow-level telemetry; no Telnet service hosted).</a:t>
            </a:r>
            <a:endParaRPr sz="800">
              <a:solidFill>
                <a:schemeClr val="lt1"/>
              </a:solidFill>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800">
              <a:solidFill>
                <a:schemeClr val="lt1"/>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9" name="Shape 149"/>
        <p:cNvGrpSpPr/>
        <p:nvPr/>
      </p:nvGrpSpPr>
      <p:grpSpPr>
        <a:xfrm>
          <a:off x="0" y="0"/>
          <a:ext cx="0" cy="0"/>
          <a:chOff x="0" y="0"/>
          <a:chExt cx="0" cy="0"/>
        </a:xfrm>
      </p:grpSpPr>
      <p:sp>
        <p:nvSpPr>
          <p:cNvPr id="150" name="Google Shape;150;p27"/>
          <p:cNvSpPr txBox="1"/>
          <p:nvPr/>
        </p:nvSpPr>
        <p:spPr>
          <a:xfrm>
            <a:off x="0" y="3569625"/>
            <a:ext cx="9144000" cy="14718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Source IPs geolocated primarily to the United States, with additional activity from Europe and Asia.</a:t>
            </a:r>
            <a:endParaRPr sz="1000">
              <a:solidFill>
                <a:schemeClr val="lt1"/>
              </a:solidFill>
              <a:latin typeface="Roboto Mono"/>
              <a:ea typeface="Roboto Mono"/>
              <a:cs typeface="Roboto Mono"/>
              <a:sym typeface="Roboto Mono"/>
            </a:endParaRPr>
          </a:p>
          <a:p>
            <a:pPr indent="-292100" lvl="0" marL="4572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Findings were primarily PortProbe events against exposed services (notably TCP/445 and TCP/23), consistent with broad internet-wide reconnaissance.</a:t>
            </a:r>
            <a:endParaRPr sz="1000">
              <a:solidFill>
                <a:schemeClr val="lt1"/>
              </a:solidFill>
              <a:latin typeface="Roboto Mono"/>
              <a:ea typeface="Roboto Mono"/>
              <a:cs typeface="Roboto Mono"/>
              <a:sym typeface="Roboto Mono"/>
            </a:endParaRPr>
          </a:p>
          <a:p>
            <a:pPr indent="-292100" lvl="0" marL="4572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GuardDuty reports the observed source IP, but geolocation can reflect VPNs, carrier/NAT egress, and cloud hosting; “US-based” should be treated as IP-geolocation context, not attribution.</a:t>
            </a:r>
            <a:endParaRPr sz="1000">
              <a:solidFill>
                <a:schemeClr val="lt1"/>
              </a:solidFill>
              <a:latin typeface="Roboto Mono"/>
              <a:ea typeface="Roboto Mono"/>
              <a:cs typeface="Roboto Mono"/>
              <a:sym typeface="Roboto Mono"/>
            </a:endParaRPr>
          </a:p>
          <a:p>
            <a:pPr indent="-292100" lvl="0" marL="457200" rtl="0" algn="l">
              <a:lnSpc>
                <a:spcPct val="115000"/>
              </a:lnSpc>
              <a:spcBef>
                <a:spcPts val="0"/>
              </a:spcBef>
              <a:spcAft>
                <a:spcPts val="0"/>
              </a:spcAft>
              <a:buClr>
                <a:schemeClr val="lt1"/>
              </a:buClr>
              <a:buSzPts val="1000"/>
              <a:buFont typeface="Roboto Mono"/>
              <a:buChar char="❖"/>
            </a:pPr>
            <a:r>
              <a:rPr lang="en" sz="1000">
                <a:solidFill>
                  <a:schemeClr val="lt1"/>
                </a:solidFill>
                <a:latin typeface="Roboto Mono"/>
                <a:ea typeface="Roboto Mono"/>
                <a:cs typeface="Roboto Mono"/>
                <a:sym typeface="Roboto Mono"/>
              </a:rPr>
              <a:t>Benign (self-generated): ‘Suspicious command’ and ‘GetCostAndUsage invoked using root credentials’ were triggered by my own administrative actions in the EC2/Console environment (not external attacker activity).</a:t>
            </a:r>
            <a:endParaRPr sz="1000">
              <a:solidFill>
                <a:schemeClr val="lt1"/>
              </a:solidFill>
              <a:latin typeface="Roboto Mono"/>
              <a:ea typeface="Roboto Mono"/>
              <a:cs typeface="Roboto Mono"/>
              <a:sym typeface="Roboto Mono"/>
            </a:endParaRPr>
          </a:p>
        </p:txBody>
      </p:sp>
      <p:pic>
        <p:nvPicPr>
          <p:cNvPr id="151" name="Google Shape;151;p27"/>
          <p:cNvPicPr preferRelativeResize="0"/>
          <p:nvPr/>
        </p:nvPicPr>
        <p:blipFill>
          <a:blip r:embed="rId3">
            <a:alphaModFix/>
          </a:blip>
          <a:stretch>
            <a:fillRect/>
          </a:stretch>
        </p:blipFill>
        <p:spPr>
          <a:xfrm>
            <a:off x="0" y="0"/>
            <a:ext cx="9144003" cy="3569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11567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Roboto Mono"/>
                <a:ea typeface="Roboto Mono"/>
                <a:cs typeface="Roboto Mono"/>
                <a:sym typeface="Roboto Mono"/>
              </a:rPr>
              <a:t>Some challenges I encountered</a:t>
            </a:r>
            <a:endParaRPr>
              <a:solidFill>
                <a:schemeClr val="lt1"/>
              </a:solidFill>
              <a:latin typeface="Roboto Mono"/>
              <a:ea typeface="Roboto Mono"/>
              <a:cs typeface="Roboto Mono"/>
              <a:sym typeface="Roboto Mono"/>
            </a:endParaRPr>
          </a:p>
        </p:txBody>
      </p:sp>
      <p:sp>
        <p:nvSpPr>
          <p:cNvPr id="157" name="Google Shape;157;p28"/>
          <p:cNvSpPr txBox="1"/>
          <p:nvPr>
            <p:ph idx="1" type="body"/>
          </p:nvPr>
        </p:nvSpPr>
        <p:spPr>
          <a:xfrm>
            <a:off x="311700" y="799550"/>
            <a:ext cx="8520600" cy="4254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AWS CloudWatch ingestion pipeline instability:</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CloudWatch Agent repeatedly overwrote the TOML config</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Browser‑based editing corrupted the file</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Result: Nginx HTTP logs never ingested, no application‑layer HTTP telemetry captured, only VPC Flow Logs and SSH logs</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My takes:</a:t>
            </a:r>
            <a:endParaRPr sz="1300">
              <a:solidFill>
                <a:schemeClr val="lt1"/>
              </a:solidFill>
              <a:latin typeface="Roboto Mono"/>
              <a:ea typeface="Roboto Mono"/>
              <a:cs typeface="Roboto Mono"/>
              <a:sym typeface="Roboto Mono"/>
            </a:endParaRPr>
          </a:p>
          <a:p>
            <a:pPr indent="-311150" lvl="2" marL="13716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Validate log ingestion early</a:t>
            </a:r>
            <a:endParaRPr sz="1300">
              <a:solidFill>
                <a:schemeClr val="lt1"/>
              </a:solidFill>
              <a:latin typeface="Roboto Mono"/>
              <a:ea typeface="Roboto Mono"/>
              <a:cs typeface="Roboto Mono"/>
              <a:sym typeface="Roboto Mono"/>
            </a:endParaRPr>
          </a:p>
          <a:p>
            <a:pPr indent="-311150" lvl="2" marL="13716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Cloud logging pipelines can fail silently</a:t>
            </a:r>
            <a:endParaRPr sz="1300">
              <a:solidFill>
                <a:schemeClr val="lt1"/>
              </a:solidFill>
              <a:latin typeface="Roboto Mono"/>
              <a:ea typeface="Roboto Mono"/>
              <a:cs typeface="Roboto Mono"/>
              <a:sym typeface="Roboto Mono"/>
            </a:endParaRPr>
          </a:p>
          <a:p>
            <a:pPr indent="-311150" lvl="0" marL="4572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Crafting least‑privilege IAM policies for CloudWatch, S3, SQS, and EC2</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Slowed down pipeline setup and troubleshooting</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AWS services are </a:t>
            </a:r>
            <a:r>
              <a:rPr lang="en" sz="1300">
                <a:solidFill>
                  <a:schemeClr val="lt1"/>
                </a:solidFill>
                <a:latin typeface="Roboto Mono"/>
                <a:ea typeface="Roboto Mono"/>
                <a:cs typeface="Roboto Mono"/>
                <a:sym typeface="Roboto Mono"/>
              </a:rPr>
              <a:t>sensitive </a:t>
            </a:r>
            <a:r>
              <a:rPr lang="en" sz="1300">
                <a:solidFill>
                  <a:schemeClr val="lt1"/>
                </a:solidFill>
                <a:latin typeface="Roboto Mono"/>
                <a:ea typeface="Roboto Mono"/>
                <a:cs typeface="Roboto Mono"/>
                <a:sym typeface="Roboto Mono"/>
              </a:rPr>
              <a:t>to incorrect IAM scopes</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Hard to balance functionality with security best practices</a:t>
            </a:r>
            <a:endParaRPr sz="1300">
              <a:solidFill>
                <a:schemeClr val="lt1"/>
              </a:solidFill>
              <a:latin typeface="Roboto Mono"/>
              <a:ea typeface="Roboto Mono"/>
              <a:cs typeface="Roboto Mono"/>
              <a:sym typeface="Roboto Mono"/>
            </a:endParaRPr>
          </a:p>
          <a:p>
            <a:pPr indent="-311150" lvl="1" marL="9144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My takes:</a:t>
            </a:r>
            <a:endParaRPr sz="1300">
              <a:solidFill>
                <a:schemeClr val="lt1"/>
              </a:solidFill>
              <a:latin typeface="Roboto Mono"/>
              <a:ea typeface="Roboto Mono"/>
              <a:cs typeface="Roboto Mono"/>
              <a:sym typeface="Roboto Mono"/>
            </a:endParaRPr>
          </a:p>
          <a:p>
            <a:pPr indent="-311150" lvl="2" marL="13716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Document required actions for each service early</a:t>
            </a:r>
            <a:endParaRPr sz="1300">
              <a:solidFill>
                <a:schemeClr val="lt1"/>
              </a:solidFill>
              <a:latin typeface="Roboto Mono"/>
              <a:ea typeface="Roboto Mono"/>
              <a:cs typeface="Roboto Mono"/>
              <a:sym typeface="Roboto Mono"/>
            </a:endParaRPr>
          </a:p>
          <a:p>
            <a:pPr indent="-311150" lvl="2" marL="13716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IAM policy design is a core skill in cloud security, not an afterthought</a:t>
            </a:r>
            <a:endParaRPr sz="1300">
              <a:solidFill>
                <a:schemeClr val="lt1"/>
              </a:solidFill>
              <a:latin typeface="Roboto Mono"/>
              <a:ea typeface="Roboto Mono"/>
              <a:cs typeface="Roboto Mono"/>
              <a:sym typeface="Roboto Mono"/>
            </a:endParaRPr>
          </a:p>
          <a:p>
            <a:pPr indent="-311150" lvl="2" marL="1371600" rtl="0" algn="l">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Start with minimal permissions and expand only when errors appear</a:t>
            </a:r>
            <a:endParaRPr sz="1300">
              <a:solidFill>
                <a:schemeClr val="lt1"/>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11567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Roboto Mono"/>
                <a:ea typeface="Roboto Mono"/>
                <a:cs typeface="Roboto Mono"/>
                <a:sym typeface="Roboto Mono"/>
              </a:rPr>
              <a:t>Final thoughts</a:t>
            </a:r>
            <a:endParaRPr>
              <a:solidFill>
                <a:schemeClr val="lt1"/>
              </a:solidFill>
              <a:latin typeface="Roboto Mono"/>
              <a:ea typeface="Roboto Mono"/>
              <a:cs typeface="Roboto Mono"/>
              <a:sym typeface="Roboto Mono"/>
            </a:endParaRPr>
          </a:p>
        </p:txBody>
      </p:sp>
      <p:sp>
        <p:nvSpPr>
          <p:cNvPr id="163" name="Google Shape;163;p29"/>
          <p:cNvSpPr txBox="1"/>
          <p:nvPr>
            <p:ph idx="1" type="body"/>
          </p:nvPr>
        </p:nvSpPr>
        <p:spPr>
          <a:xfrm>
            <a:off x="311700" y="799550"/>
            <a:ext cx="8520600" cy="42549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Observed</a:t>
            </a:r>
            <a:r>
              <a:rPr lang="en" sz="1300">
                <a:solidFill>
                  <a:schemeClr val="lt1"/>
                </a:solidFill>
                <a:latin typeface="Roboto Mono"/>
                <a:ea typeface="Roboto Mono"/>
                <a:cs typeface="Roboto Mono"/>
                <a:sym typeface="Roboto Mono"/>
              </a:rPr>
              <a:t> activity was dominated by internet-wide reconnaissance and automated probing, with network-layer connection attempts concentrated on SMB (445) and SSH (22), plus secondary HTTP (80) and Telnet (23)</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SSH telemetry (host logs) showed repeated authentication failures from a small set of sources, with both burst and persistent patterns consistent with commodity brute-force behavior.</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Network-layer SMB/Telnet activity primarily reflected connection-level scanning patterns; Telnet had low-volume probing and did not correlate with top SSH/SMB/HTTP sources in the time window.</a:t>
            </a:r>
            <a:endParaRPr sz="1300">
              <a:solidFill>
                <a:schemeClr val="lt1"/>
              </a:solidFill>
              <a:latin typeface="Roboto Mono"/>
              <a:ea typeface="Roboto Mono"/>
              <a:cs typeface="Roboto Mono"/>
              <a:sym typeface="Roboto Mono"/>
            </a:endParaRPr>
          </a:p>
          <a:p>
            <a:pPr indent="-311150" lvl="0" marL="457200" rtl="0" algn="l">
              <a:lnSpc>
                <a:spcPct val="150000"/>
              </a:lnSpc>
              <a:spcBef>
                <a:spcPts val="0"/>
              </a:spcBef>
              <a:spcAft>
                <a:spcPts val="0"/>
              </a:spcAft>
              <a:buClr>
                <a:schemeClr val="lt1"/>
              </a:buClr>
              <a:buSzPts val="1300"/>
              <a:buFont typeface="Roboto Mono"/>
              <a:buChar char="❖"/>
            </a:pPr>
            <a:r>
              <a:rPr lang="en" sz="1300">
                <a:solidFill>
                  <a:schemeClr val="lt1"/>
                </a:solidFill>
                <a:latin typeface="Roboto Mono"/>
                <a:ea typeface="Roboto Mono"/>
                <a:cs typeface="Roboto Mono"/>
                <a:sym typeface="Roboto Mono"/>
              </a:rPr>
              <a:t>No confirmed compromise indicators were observed in collected telemetry.</a:t>
            </a:r>
            <a:endParaRPr sz="1300">
              <a:solidFill>
                <a:schemeClr val="lt1"/>
              </a:solidFill>
              <a:latin typeface="Roboto Mono"/>
              <a:ea typeface="Roboto Mono"/>
              <a:cs typeface="Roboto Mono"/>
              <a:sym typeface="Roboto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